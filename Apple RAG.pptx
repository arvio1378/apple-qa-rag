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Arial Nova" charset="1" panose="020B0504020202020204"/>
      <p:regular r:id="rId19"/>
    </p:embeddedFont>
    <p:embeddedFont>
      <p:font typeface="Arial Nova Bold" charset="1" panose="020B0804020202020204"/>
      <p:regular r:id="rId20"/>
    </p:embeddedFont>
    <p:embeddedFont>
      <p:font typeface="Museo Moderno Italics" charset="1" panose="00000000000000000000"/>
      <p:regular r:id="rId21"/>
    </p:embeddedFont>
    <p:embeddedFont>
      <p:font typeface="Arial Nova Bold Italics" charset="1" panose="020B08040202020902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www.linkedin.com/in/arvio-abe-suhendar/" TargetMode="External" Type="http://schemas.openxmlformats.org/officeDocument/2006/relationships/hyperlink"/><Relationship Id="rId3" Target="https://github.com/arvio1378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7059901"/>
            <a:ext cx="2281745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spc="-167">
                <a:solidFill>
                  <a:srgbClr val="1D2024"/>
                </a:solidFill>
                <a:latin typeface="Arial Nova"/>
                <a:ea typeface="Arial Nova"/>
                <a:cs typeface="Arial Nova"/>
                <a:sym typeface="Arial Nova"/>
              </a:rPr>
              <a:t>presented by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19102" y="1304925"/>
            <a:ext cx="13615545" cy="444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00"/>
              </a:lnSpc>
            </a:pPr>
            <a:r>
              <a:rPr lang="en-US" sz="12000" spc="-960" b="true">
                <a:solidFill>
                  <a:srgbClr val="1D2024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AI </a:t>
            </a:r>
          </a:p>
          <a:p>
            <a:pPr algn="l">
              <a:lnSpc>
                <a:spcPts val="11400"/>
              </a:lnSpc>
            </a:pPr>
            <a:r>
              <a:rPr lang="en-US" sz="12000" spc="-960" b="true">
                <a:solidFill>
                  <a:srgbClr val="1D2024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Question Answering </a:t>
            </a:r>
          </a:p>
          <a:p>
            <a:pPr algn="l">
              <a:lnSpc>
                <a:spcPts val="11400"/>
              </a:lnSpc>
            </a:pPr>
            <a:r>
              <a:rPr lang="en-US" sz="12000" spc="-960" b="true">
                <a:solidFill>
                  <a:srgbClr val="1D2024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Apple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7562572"/>
            <a:ext cx="5508978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 spc="-99">
                <a:solidFill>
                  <a:srgbClr val="1D2024"/>
                </a:solidFill>
                <a:latin typeface="Arial Nova"/>
                <a:ea typeface="Arial Nova"/>
                <a:cs typeface="Arial Nova"/>
                <a:sym typeface="Arial Nova"/>
              </a:rPr>
              <a:t>Arvio Abe Suhendar</a:t>
            </a:r>
          </a:p>
        </p:txBody>
      </p:sp>
      <p:sp>
        <p:nvSpPr>
          <p:cNvPr name="TextBox 5" id="5"/>
          <p:cNvSpPr txBox="true"/>
          <p:nvPr/>
        </p:nvSpPr>
        <p:spPr>
          <a:xfrm rot="5400000">
            <a:off x="13007474" y="4709762"/>
            <a:ext cx="5349966" cy="10974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297"/>
              </a:lnSpc>
            </a:pPr>
            <a:r>
              <a:rPr lang="en-US" sz="64498" i="true" spc="-3869">
                <a:solidFill>
                  <a:srgbClr val="1D2024"/>
                </a:solidFill>
                <a:latin typeface="Museo Moderno Italics"/>
                <a:ea typeface="Museo Moderno Italics"/>
                <a:cs typeface="Museo Moderno Italics"/>
                <a:sym typeface="Museo Moderno Italics"/>
              </a:rPr>
              <a:t>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4118073"/>
            <a:ext cx="9826656" cy="2600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694" indent="-323847" lvl="1">
              <a:lnSpc>
                <a:spcPts val="4199"/>
              </a:lnSpc>
              <a:buFont typeface="Arial"/>
              <a:buChar char="•"/>
            </a:pPr>
            <a:r>
              <a:rPr lang="en-US" sz="2999" spc="-149">
                <a:solidFill>
                  <a:srgbClr val="F8F8F8"/>
                </a:solidFill>
                <a:latin typeface="Arial Nova"/>
                <a:ea typeface="Arial Nova"/>
                <a:cs typeface="Arial Nova"/>
                <a:sym typeface="Arial Nova"/>
              </a:rPr>
              <a:t>Information about the iPhone is scattered across many sources.</a:t>
            </a:r>
          </a:p>
          <a:p>
            <a:pPr algn="just" marL="647694" indent="-323847" lvl="1">
              <a:lnSpc>
                <a:spcPts val="4199"/>
              </a:lnSpc>
              <a:buFont typeface="Arial"/>
              <a:buChar char="•"/>
            </a:pPr>
            <a:r>
              <a:rPr lang="en-US" sz="2999" spc="-149">
                <a:solidFill>
                  <a:srgbClr val="F8F8F8"/>
                </a:solidFill>
                <a:latin typeface="Arial Nova"/>
                <a:ea typeface="Arial Nova"/>
                <a:cs typeface="Arial Nova"/>
                <a:sym typeface="Arial Nova"/>
              </a:rPr>
              <a:t>It's hard to find a concise and accurate answer.</a:t>
            </a:r>
          </a:p>
          <a:p>
            <a:pPr algn="just" marL="647694" indent="-323847" lvl="1">
              <a:lnSpc>
                <a:spcPts val="4199"/>
              </a:lnSpc>
              <a:buFont typeface="Arial"/>
              <a:buChar char="•"/>
            </a:pPr>
            <a:r>
              <a:rPr lang="en-US" sz="2999" spc="-149">
                <a:solidFill>
                  <a:srgbClr val="F8F8F8"/>
                </a:solidFill>
                <a:latin typeface="Arial Nova"/>
                <a:ea typeface="Arial Nova"/>
                <a:cs typeface="Arial Nova"/>
                <a:sym typeface="Arial Nova"/>
              </a:rPr>
              <a:t>Relevant automated QA system is needed &amp; can work 24 hours</a:t>
            </a:r>
          </a:p>
        </p:txBody>
      </p:sp>
      <p:sp>
        <p:nvSpPr>
          <p:cNvPr name="TextBox 4" id="4"/>
          <p:cNvSpPr txBox="true"/>
          <p:nvPr/>
        </p:nvSpPr>
        <p:spPr>
          <a:xfrm rot="3440989">
            <a:off x="15965218" y="3216557"/>
            <a:ext cx="3213715" cy="6602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241"/>
              </a:lnSpc>
            </a:pPr>
            <a:r>
              <a:rPr lang="en-US" sz="38744" i="true" spc="-2324">
                <a:solidFill>
                  <a:srgbClr val="F8F8F8"/>
                </a:solidFill>
                <a:latin typeface="Museo Moderno Italics"/>
                <a:ea typeface="Museo Moderno Italics"/>
                <a:cs typeface="Museo Moderno Italics"/>
                <a:sym typeface="Museo Moderno Italics"/>
              </a:rPr>
              <a:t>E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5751494" y="7711806"/>
            <a:ext cx="1507806" cy="1546494"/>
          </a:xfrm>
          <a:custGeom>
            <a:avLst/>
            <a:gdLst/>
            <a:ahLst/>
            <a:cxnLst/>
            <a:rect r="r" b="b" t="t" l="l"/>
            <a:pathLst>
              <a:path h="1546494" w="1507806">
                <a:moveTo>
                  <a:pt x="0" y="0"/>
                </a:moveTo>
                <a:lnTo>
                  <a:pt x="1507806" y="0"/>
                </a:lnTo>
                <a:lnTo>
                  <a:pt x="1507806" y="1546494"/>
                </a:lnTo>
                <a:lnTo>
                  <a:pt x="0" y="15464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711872"/>
            <a:ext cx="9826656" cy="1166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91"/>
              </a:lnSpc>
            </a:pPr>
            <a:r>
              <a:rPr lang="en-US" sz="9149" spc="-731" b="true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Problem Statement</a:t>
            </a:r>
          </a:p>
        </p:txBody>
      </p:sp>
    </p:spTree>
  </p:cSld>
  <p:clrMapOvr>
    <a:masterClrMapping/>
  </p:clrMapOvr>
  <p:transition spd="fast">
    <p:push dir="u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504216" y="4003040"/>
            <a:ext cx="8755084" cy="2223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 spc="-160">
                <a:solidFill>
                  <a:srgbClr val="F8F8F8"/>
                </a:solidFill>
                <a:latin typeface="Arial Nova"/>
                <a:ea typeface="Arial Nova"/>
                <a:cs typeface="Arial Nova"/>
                <a:sym typeface="Arial Nova"/>
              </a:rPr>
              <a:t>The dataset is saved in CSV format</a:t>
            </a:r>
          </a:p>
          <a:p>
            <a:pPr algn="just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 spc="-160">
                <a:solidFill>
                  <a:srgbClr val="F8F8F8"/>
                </a:solidFill>
                <a:latin typeface="Arial Nova"/>
                <a:ea typeface="Arial Nova"/>
                <a:cs typeface="Arial Nova"/>
                <a:sym typeface="Arial Nova"/>
              </a:rPr>
              <a:t>Answering questions about Apple products</a:t>
            </a:r>
          </a:p>
          <a:p>
            <a:pPr algn="just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 spc="-160">
                <a:solidFill>
                  <a:srgbClr val="F8F8F8"/>
                </a:solidFill>
                <a:latin typeface="Arial Nova"/>
                <a:ea typeface="Arial Nova"/>
                <a:cs typeface="Arial Nova"/>
                <a:sym typeface="Arial Nova"/>
              </a:rPr>
              <a:t>Simple interface using Streamlit</a:t>
            </a:r>
          </a:p>
          <a:p>
            <a:pPr algn="just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 spc="-160">
                <a:solidFill>
                  <a:srgbClr val="F8F8F8"/>
                </a:solidFill>
                <a:latin typeface="Arial Nova"/>
                <a:ea typeface="Arial Nova"/>
                <a:cs typeface="Arial Nova"/>
                <a:sym typeface="Arial Nova"/>
              </a:rPr>
              <a:t>Using RAG to combine retrieval + LLM models</a:t>
            </a:r>
          </a:p>
        </p:txBody>
      </p:sp>
      <p:sp>
        <p:nvSpPr>
          <p:cNvPr name="TextBox 4" id="4"/>
          <p:cNvSpPr txBox="true"/>
          <p:nvPr/>
        </p:nvSpPr>
        <p:spPr>
          <a:xfrm rot="-2873862">
            <a:off x="-1515076" y="3579902"/>
            <a:ext cx="3213715" cy="6602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241"/>
              </a:lnSpc>
            </a:pPr>
            <a:r>
              <a:rPr lang="en-US" sz="38744" i="true" spc="-2324">
                <a:solidFill>
                  <a:srgbClr val="F8F8F8"/>
                </a:solidFill>
                <a:latin typeface="Museo Moderno Italics"/>
                <a:ea typeface="Museo Moderno Italics"/>
                <a:cs typeface="Museo Moderno Italics"/>
                <a:sym typeface="Museo Moderno Italics"/>
              </a:rPr>
              <a:t>E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6314851">
            <a:off x="1516227" y="6619894"/>
            <a:ext cx="1507806" cy="1546494"/>
          </a:xfrm>
          <a:custGeom>
            <a:avLst/>
            <a:gdLst/>
            <a:ahLst/>
            <a:cxnLst/>
            <a:rect r="r" b="b" t="t" l="l"/>
            <a:pathLst>
              <a:path h="1546494" w="1507806">
                <a:moveTo>
                  <a:pt x="0" y="0"/>
                </a:moveTo>
                <a:lnTo>
                  <a:pt x="1507806" y="0"/>
                </a:lnTo>
                <a:lnTo>
                  <a:pt x="1507806" y="1546494"/>
                </a:lnTo>
                <a:lnTo>
                  <a:pt x="0" y="15464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2867044" y="1247775"/>
            <a:ext cx="4392256" cy="1166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91"/>
              </a:lnSpc>
            </a:pPr>
            <a:r>
              <a:rPr lang="en-US" sz="9149" spc="-731" b="true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Features</a:t>
            </a:r>
          </a:p>
        </p:txBody>
      </p:sp>
    </p:spTree>
  </p:cSld>
  <p:clrMapOvr>
    <a:masterClrMapping/>
  </p:clrMapOvr>
  <p:transition spd="fast">
    <p:push dir="u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-7891318">
            <a:off x="-297034" y="143530"/>
            <a:ext cx="3213715" cy="6602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241"/>
              </a:lnSpc>
            </a:pPr>
            <a:r>
              <a:rPr lang="en-US" sz="38744" i="true" spc="-2324">
                <a:solidFill>
                  <a:srgbClr val="F8F8F8"/>
                </a:solidFill>
                <a:latin typeface="Museo Moderno Italics"/>
                <a:ea typeface="Museo Moderno Italics"/>
                <a:cs typeface="Museo Moderno Italics"/>
                <a:sym typeface="Museo Moderno Italics"/>
              </a:rPr>
              <a:t>E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10267691">
            <a:off x="1306466" y="563670"/>
            <a:ext cx="1507806" cy="1546494"/>
          </a:xfrm>
          <a:custGeom>
            <a:avLst/>
            <a:gdLst/>
            <a:ahLst/>
            <a:cxnLst/>
            <a:rect r="r" b="b" t="t" l="l"/>
            <a:pathLst>
              <a:path h="1546494" w="1507806">
                <a:moveTo>
                  <a:pt x="0" y="0"/>
                </a:moveTo>
                <a:lnTo>
                  <a:pt x="1507807" y="0"/>
                </a:lnTo>
                <a:lnTo>
                  <a:pt x="1507807" y="1546494"/>
                </a:lnTo>
                <a:lnTo>
                  <a:pt x="0" y="15464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524456" y="4338637"/>
            <a:ext cx="8734844" cy="1552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694" indent="-323847" lvl="1">
              <a:lnSpc>
                <a:spcPts val="4199"/>
              </a:lnSpc>
              <a:buFont typeface="Arial"/>
              <a:buChar char="•"/>
            </a:pPr>
            <a:r>
              <a:rPr lang="en-US" sz="2999" spc="-149">
                <a:solidFill>
                  <a:srgbClr val="F8F8F8"/>
                </a:solidFill>
                <a:latin typeface="Arial Nova"/>
                <a:ea typeface="Arial Nova"/>
                <a:cs typeface="Arial Nova"/>
                <a:sym typeface="Arial Nova"/>
              </a:rPr>
              <a:t>Create an iPhone-specific Q&amp;A system.</a:t>
            </a:r>
          </a:p>
          <a:p>
            <a:pPr algn="just" marL="647694" indent="-323847" lvl="1">
              <a:lnSpc>
                <a:spcPts val="4199"/>
              </a:lnSpc>
              <a:buFont typeface="Arial"/>
              <a:buChar char="•"/>
            </a:pPr>
            <a:r>
              <a:rPr lang="en-US" sz="2999" spc="-149">
                <a:solidFill>
                  <a:srgbClr val="F8F8F8"/>
                </a:solidFill>
                <a:latin typeface="Arial Nova"/>
                <a:ea typeface="Arial Nova"/>
                <a:cs typeface="Arial Nova"/>
                <a:sym typeface="Arial Nova"/>
              </a:rPr>
              <a:t>Using the RAG (Retrieval + LLM) approach.</a:t>
            </a:r>
          </a:p>
          <a:p>
            <a:pPr algn="just" marL="647694" indent="-323847" lvl="1">
              <a:lnSpc>
                <a:spcPts val="4199"/>
              </a:lnSpc>
              <a:buFont typeface="Arial"/>
              <a:buChar char="•"/>
            </a:pPr>
            <a:r>
              <a:rPr lang="en-US" sz="2999" spc="-149">
                <a:solidFill>
                  <a:srgbClr val="F8F8F8"/>
                </a:solidFill>
                <a:latin typeface="Arial Nova"/>
                <a:ea typeface="Arial Nova"/>
                <a:cs typeface="Arial Nova"/>
                <a:sym typeface="Arial Nova"/>
              </a:rPr>
              <a:t>Provide accurate document-based answers.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7520255"/>
            <a:ext cx="4897426" cy="1171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91"/>
              </a:lnSpc>
            </a:pPr>
            <a:r>
              <a:rPr lang="en-US" sz="9149" spc="-731" b="true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Objective</a:t>
            </a:r>
          </a:p>
        </p:txBody>
      </p:sp>
    </p:spTree>
  </p:cSld>
  <p:clrMapOvr>
    <a:masterClrMapping/>
  </p:clrMapOvr>
  <p:transition spd="fast">
    <p:push dir="u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537787">
            <a:off x="14782718" y="-3427106"/>
            <a:ext cx="3213715" cy="6602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241"/>
              </a:lnSpc>
            </a:pPr>
            <a:r>
              <a:rPr lang="en-US" sz="38744" i="true" spc="-2324">
                <a:solidFill>
                  <a:srgbClr val="F8F8F8"/>
                </a:solidFill>
                <a:latin typeface="Museo Moderno Italics"/>
                <a:ea typeface="Museo Moderno Italics"/>
                <a:cs typeface="Museo Moderno Italics"/>
                <a:sym typeface="Museo Moderno Italics"/>
              </a:rPr>
              <a:t>E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2903202">
            <a:off x="16397959" y="1204899"/>
            <a:ext cx="1507806" cy="1546494"/>
          </a:xfrm>
          <a:custGeom>
            <a:avLst/>
            <a:gdLst/>
            <a:ahLst/>
            <a:cxnLst/>
            <a:rect r="r" b="b" t="t" l="l"/>
            <a:pathLst>
              <a:path h="1546494" w="1507806">
                <a:moveTo>
                  <a:pt x="0" y="0"/>
                </a:moveTo>
                <a:lnTo>
                  <a:pt x="1507806" y="0"/>
                </a:lnTo>
                <a:lnTo>
                  <a:pt x="1507806" y="1546494"/>
                </a:lnTo>
                <a:lnTo>
                  <a:pt x="0" y="15464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70934" y="3341916"/>
            <a:ext cx="9682885" cy="504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 spc="-149">
                <a:solidFill>
                  <a:srgbClr val="F8F8F8"/>
                </a:solidFill>
                <a:latin typeface="Arial Nova"/>
                <a:ea typeface="Arial Nova"/>
                <a:cs typeface="Arial Nova"/>
                <a:sym typeface="Arial Nova"/>
              </a:rPr>
              <a:t>Load Dataset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783440"/>
            <a:ext cx="7652896" cy="2271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91"/>
              </a:lnSpc>
            </a:pPr>
            <a:r>
              <a:rPr lang="en-US" sz="9149" spc="-731" b="true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RAG Architecture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-2903202">
            <a:off x="1098214" y="3450811"/>
            <a:ext cx="322624" cy="330902"/>
          </a:xfrm>
          <a:custGeom>
            <a:avLst/>
            <a:gdLst/>
            <a:ahLst/>
            <a:cxnLst/>
            <a:rect r="r" b="b" t="t" l="l"/>
            <a:pathLst>
              <a:path h="330902" w="322624">
                <a:moveTo>
                  <a:pt x="0" y="0"/>
                </a:moveTo>
                <a:lnTo>
                  <a:pt x="322624" y="0"/>
                </a:lnTo>
                <a:lnTo>
                  <a:pt x="322624" y="330902"/>
                </a:lnTo>
                <a:lnTo>
                  <a:pt x="0" y="3309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670934" y="4121951"/>
            <a:ext cx="9682885" cy="504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 spc="-149">
                <a:solidFill>
                  <a:srgbClr val="F8F8F8"/>
                </a:solidFill>
                <a:latin typeface="Arial Nova"/>
                <a:ea typeface="Arial Nova"/>
                <a:cs typeface="Arial Nova"/>
                <a:sym typeface="Arial Nova"/>
              </a:rPr>
              <a:t>Cleaning Data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-2903202">
            <a:off x="1098214" y="4230846"/>
            <a:ext cx="322624" cy="330902"/>
          </a:xfrm>
          <a:custGeom>
            <a:avLst/>
            <a:gdLst/>
            <a:ahLst/>
            <a:cxnLst/>
            <a:rect r="r" b="b" t="t" l="l"/>
            <a:pathLst>
              <a:path h="330902" w="322624">
                <a:moveTo>
                  <a:pt x="0" y="0"/>
                </a:moveTo>
                <a:lnTo>
                  <a:pt x="322624" y="0"/>
                </a:lnTo>
                <a:lnTo>
                  <a:pt x="322624" y="330902"/>
                </a:lnTo>
                <a:lnTo>
                  <a:pt x="0" y="3309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670934" y="4916285"/>
            <a:ext cx="9682885" cy="504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 spc="-149">
                <a:solidFill>
                  <a:srgbClr val="F8F8F8"/>
                </a:solidFill>
                <a:latin typeface="Arial Nova"/>
                <a:ea typeface="Arial Nova"/>
                <a:cs typeface="Arial Nova"/>
                <a:sym typeface="Arial Nova"/>
              </a:rPr>
              <a:t>Convert CSV to Document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-2903202">
            <a:off x="1098214" y="5025180"/>
            <a:ext cx="322624" cy="330902"/>
          </a:xfrm>
          <a:custGeom>
            <a:avLst/>
            <a:gdLst/>
            <a:ahLst/>
            <a:cxnLst/>
            <a:rect r="r" b="b" t="t" l="l"/>
            <a:pathLst>
              <a:path h="330902" w="322624">
                <a:moveTo>
                  <a:pt x="0" y="0"/>
                </a:moveTo>
                <a:lnTo>
                  <a:pt x="322624" y="0"/>
                </a:lnTo>
                <a:lnTo>
                  <a:pt x="322624" y="330902"/>
                </a:lnTo>
                <a:lnTo>
                  <a:pt x="0" y="3309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670934" y="5691570"/>
            <a:ext cx="9682885" cy="504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 spc="-149">
                <a:solidFill>
                  <a:srgbClr val="F8F8F8"/>
                </a:solidFill>
                <a:latin typeface="Arial Nova"/>
                <a:ea typeface="Arial Nova"/>
                <a:cs typeface="Arial Nova"/>
                <a:sym typeface="Arial Nova"/>
              </a:rPr>
              <a:t>Chunking: breaking large text into smaller parts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-2903202">
            <a:off x="1098214" y="5800465"/>
            <a:ext cx="322624" cy="330902"/>
          </a:xfrm>
          <a:custGeom>
            <a:avLst/>
            <a:gdLst/>
            <a:ahLst/>
            <a:cxnLst/>
            <a:rect r="r" b="b" t="t" l="l"/>
            <a:pathLst>
              <a:path h="330902" w="322624">
                <a:moveTo>
                  <a:pt x="0" y="0"/>
                </a:moveTo>
                <a:lnTo>
                  <a:pt x="322624" y="0"/>
                </a:lnTo>
                <a:lnTo>
                  <a:pt x="322624" y="330902"/>
                </a:lnTo>
                <a:lnTo>
                  <a:pt x="0" y="3309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670934" y="6466855"/>
            <a:ext cx="11933186" cy="504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 spc="-149">
                <a:solidFill>
                  <a:srgbClr val="F8F8F8"/>
                </a:solidFill>
                <a:latin typeface="Arial Nova"/>
                <a:ea typeface="Arial Nova"/>
                <a:cs typeface="Arial Nova"/>
                <a:sym typeface="Arial Nova"/>
              </a:rPr>
              <a:t>Embedding : convert text to number vector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-2903202">
            <a:off x="1098214" y="6575750"/>
            <a:ext cx="322624" cy="330902"/>
          </a:xfrm>
          <a:custGeom>
            <a:avLst/>
            <a:gdLst/>
            <a:ahLst/>
            <a:cxnLst/>
            <a:rect r="r" b="b" t="t" l="l"/>
            <a:pathLst>
              <a:path h="330902" w="322624">
                <a:moveTo>
                  <a:pt x="0" y="0"/>
                </a:moveTo>
                <a:lnTo>
                  <a:pt x="322624" y="0"/>
                </a:lnTo>
                <a:lnTo>
                  <a:pt x="322624" y="330901"/>
                </a:lnTo>
                <a:lnTo>
                  <a:pt x="0" y="33090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670934" y="7242139"/>
            <a:ext cx="11933186" cy="504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 spc="-149">
                <a:solidFill>
                  <a:srgbClr val="F8F8F8"/>
                </a:solidFill>
                <a:latin typeface="Arial Nova"/>
                <a:ea typeface="Arial Nova"/>
                <a:cs typeface="Arial Nova"/>
                <a:sym typeface="Arial Nova"/>
              </a:rPr>
              <a:t>Vector Store : Saves a vector of numbers to a vector database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-2903202">
            <a:off x="1098214" y="7351034"/>
            <a:ext cx="322624" cy="330902"/>
          </a:xfrm>
          <a:custGeom>
            <a:avLst/>
            <a:gdLst/>
            <a:ahLst/>
            <a:cxnLst/>
            <a:rect r="r" b="b" t="t" l="l"/>
            <a:pathLst>
              <a:path h="330902" w="322624">
                <a:moveTo>
                  <a:pt x="0" y="0"/>
                </a:moveTo>
                <a:lnTo>
                  <a:pt x="322624" y="0"/>
                </a:lnTo>
                <a:lnTo>
                  <a:pt x="322624" y="330902"/>
                </a:lnTo>
                <a:lnTo>
                  <a:pt x="0" y="3309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670934" y="8017424"/>
            <a:ext cx="11933186" cy="504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 spc="-149">
                <a:solidFill>
                  <a:srgbClr val="F8F8F8"/>
                </a:solidFill>
                <a:latin typeface="Arial Nova"/>
                <a:ea typeface="Arial Nova"/>
                <a:cs typeface="Arial Nova"/>
                <a:sym typeface="Arial Nova"/>
              </a:rPr>
              <a:t>Retriever: searches the vector database for the most similar result to retrieve.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-2903202">
            <a:off x="1098214" y="8126319"/>
            <a:ext cx="322624" cy="330902"/>
          </a:xfrm>
          <a:custGeom>
            <a:avLst/>
            <a:gdLst/>
            <a:ahLst/>
            <a:cxnLst/>
            <a:rect r="r" b="b" t="t" l="l"/>
            <a:pathLst>
              <a:path h="330902" w="322624">
                <a:moveTo>
                  <a:pt x="0" y="0"/>
                </a:moveTo>
                <a:lnTo>
                  <a:pt x="322624" y="0"/>
                </a:lnTo>
                <a:lnTo>
                  <a:pt x="322624" y="330902"/>
                </a:lnTo>
                <a:lnTo>
                  <a:pt x="0" y="3309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670934" y="8792709"/>
            <a:ext cx="11933186" cy="504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 spc="-149">
                <a:solidFill>
                  <a:srgbClr val="F8F8F8"/>
                </a:solidFill>
                <a:latin typeface="Arial Nova"/>
                <a:ea typeface="Arial Nova"/>
                <a:cs typeface="Arial Nova"/>
                <a:sym typeface="Arial Nova"/>
              </a:rPr>
              <a:t>LLM : Processing answers from similarity context from retriever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-2903202">
            <a:off x="1098214" y="8901604"/>
            <a:ext cx="322624" cy="330902"/>
          </a:xfrm>
          <a:custGeom>
            <a:avLst/>
            <a:gdLst/>
            <a:ahLst/>
            <a:cxnLst/>
            <a:rect r="r" b="b" t="t" l="l"/>
            <a:pathLst>
              <a:path h="330902" w="322624">
                <a:moveTo>
                  <a:pt x="0" y="0"/>
                </a:moveTo>
                <a:lnTo>
                  <a:pt x="322624" y="0"/>
                </a:lnTo>
                <a:lnTo>
                  <a:pt x="322624" y="330901"/>
                </a:lnTo>
                <a:lnTo>
                  <a:pt x="0" y="33090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push dir="u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537787">
            <a:off x="14782718" y="-3427106"/>
            <a:ext cx="3213715" cy="6602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241"/>
              </a:lnSpc>
            </a:pPr>
            <a:r>
              <a:rPr lang="en-US" sz="38744" i="true" spc="-2324">
                <a:solidFill>
                  <a:srgbClr val="F8F8F8"/>
                </a:solidFill>
                <a:latin typeface="Museo Moderno Italics"/>
                <a:ea typeface="Museo Moderno Italics"/>
                <a:cs typeface="Museo Moderno Italics"/>
                <a:sym typeface="Museo Moderno Italics"/>
              </a:rPr>
              <a:t>E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2903202">
            <a:off x="16397959" y="1204899"/>
            <a:ext cx="1507806" cy="1546494"/>
          </a:xfrm>
          <a:custGeom>
            <a:avLst/>
            <a:gdLst/>
            <a:ahLst/>
            <a:cxnLst/>
            <a:rect r="r" b="b" t="t" l="l"/>
            <a:pathLst>
              <a:path h="1546494" w="1507806">
                <a:moveTo>
                  <a:pt x="0" y="0"/>
                </a:moveTo>
                <a:lnTo>
                  <a:pt x="1507806" y="0"/>
                </a:lnTo>
                <a:lnTo>
                  <a:pt x="1507806" y="1546494"/>
                </a:lnTo>
                <a:lnTo>
                  <a:pt x="0" y="15464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15170" y="1801199"/>
            <a:ext cx="11883737" cy="6684602"/>
          </a:xfrm>
          <a:custGeom>
            <a:avLst/>
            <a:gdLst/>
            <a:ahLst/>
            <a:cxnLst/>
            <a:rect r="r" b="b" t="t" l="l"/>
            <a:pathLst>
              <a:path h="6684602" w="11883737">
                <a:moveTo>
                  <a:pt x="0" y="0"/>
                </a:moveTo>
                <a:lnTo>
                  <a:pt x="11883738" y="0"/>
                </a:lnTo>
                <a:lnTo>
                  <a:pt x="11883738" y="6684602"/>
                </a:lnTo>
                <a:lnTo>
                  <a:pt x="0" y="668460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2637140" y="3503795"/>
            <a:ext cx="4514721" cy="1171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91"/>
              </a:lnSpc>
            </a:pPr>
            <a:r>
              <a:rPr lang="en-US" sz="9149" spc="-731" b="true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Diagram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473964" y="4846888"/>
            <a:ext cx="5596669" cy="3648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694" indent="-323847" lvl="1">
              <a:lnSpc>
                <a:spcPts val="4199"/>
              </a:lnSpc>
              <a:buFont typeface="Arial"/>
              <a:buChar char="•"/>
            </a:pPr>
            <a:r>
              <a:rPr lang="en-US" sz="2999" spc="-149">
                <a:solidFill>
                  <a:srgbClr val="F8F8F8"/>
                </a:solidFill>
                <a:latin typeface="Arial Nova"/>
                <a:ea typeface="Arial Nova"/>
                <a:cs typeface="Arial Nova"/>
                <a:sym typeface="Arial Nova"/>
              </a:rPr>
              <a:t>Users ask question</a:t>
            </a:r>
          </a:p>
          <a:p>
            <a:pPr algn="just" marL="647694" indent="-323847" lvl="1">
              <a:lnSpc>
                <a:spcPts val="4199"/>
              </a:lnSpc>
              <a:buFont typeface="Arial"/>
              <a:buChar char="•"/>
            </a:pPr>
            <a:r>
              <a:rPr lang="en-US" sz="2999" spc="-149">
                <a:solidFill>
                  <a:srgbClr val="F8F8F8"/>
                </a:solidFill>
                <a:latin typeface="Arial Nova"/>
                <a:ea typeface="Arial Nova"/>
                <a:cs typeface="Arial Nova"/>
                <a:sym typeface="Arial Nova"/>
              </a:rPr>
              <a:t>The system searches for relevant documents in the database.</a:t>
            </a:r>
          </a:p>
          <a:p>
            <a:pPr algn="just" marL="647694" indent="-323847" lvl="1">
              <a:lnSpc>
                <a:spcPts val="4199"/>
              </a:lnSpc>
              <a:buFont typeface="Arial"/>
              <a:buChar char="•"/>
            </a:pPr>
            <a:r>
              <a:rPr lang="en-US" sz="2999" spc="-149">
                <a:solidFill>
                  <a:srgbClr val="F8F8F8"/>
                </a:solidFill>
                <a:latin typeface="Arial Nova"/>
                <a:ea typeface="Arial Nova"/>
                <a:cs typeface="Arial Nova"/>
                <a:sym typeface="Arial Nova"/>
              </a:rPr>
              <a:t>Documents + questions sent to LLM.</a:t>
            </a:r>
          </a:p>
          <a:p>
            <a:pPr algn="just" marL="647694" indent="-323847" lvl="1">
              <a:lnSpc>
                <a:spcPts val="4199"/>
              </a:lnSpc>
              <a:buFont typeface="Arial"/>
              <a:buChar char="•"/>
            </a:pPr>
            <a:r>
              <a:rPr lang="en-US" sz="2999" spc="-149">
                <a:solidFill>
                  <a:srgbClr val="F8F8F8"/>
                </a:solidFill>
                <a:latin typeface="Arial Nova"/>
                <a:ea typeface="Arial Nova"/>
                <a:cs typeface="Arial Nova"/>
                <a:sym typeface="Arial Nova"/>
              </a:rPr>
              <a:t>LLM produces answers.</a:t>
            </a:r>
          </a:p>
        </p:txBody>
      </p:sp>
    </p:spTree>
  </p:cSld>
  <p:clrMapOvr>
    <a:masterClrMapping/>
  </p:clrMapOvr>
  <p:transition spd="fast">
    <p:push dir="u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3483114">
            <a:off x="16381225" y="3343187"/>
            <a:ext cx="3213715" cy="6602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241"/>
              </a:lnSpc>
            </a:pPr>
            <a:r>
              <a:rPr lang="en-US" sz="38744" i="true" spc="-2324">
                <a:solidFill>
                  <a:srgbClr val="1D2024"/>
                </a:solidFill>
                <a:latin typeface="Museo Moderno Italics"/>
                <a:ea typeface="Museo Moderno Italics"/>
                <a:cs typeface="Museo Moderno Italics"/>
                <a:sym typeface="Museo Moderno Italics"/>
              </a:rPr>
              <a:t>E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42124">
            <a:off x="16143479" y="7825217"/>
            <a:ext cx="1507806" cy="1546494"/>
          </a:xfrm>
          <a:custGeom>
            <a:avLst/>
            <a:gdLst/>
            <a:ahLst/>
            <a:cxnLst/>
            <a:rect r="r" b="b" t="t" l="l"/>
            <a:pathLst>
              <a:path h="1546494" w="1507806">
                <a:moveTo>
                  <a:pt x="0" y="0"/>
                </a:moveTo>
                <a:lnTo>
                  <a:pt x="1507806" y="0"/>
                </a:lnTo>
                <a:lnTo>
                  <a:pt x="1507806" y="1546494"/>
                </a:lnTo>
                <a:lnTo>
                  <a:pt x="0" y="15464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8086657"/>
            <a:ext cx="8525462" cy="1171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91"/>
              </a:lnSpc>
            </a:pPr>
            <a:r>
              <a:rPr lang="en-US" sz="9149" spc="-731" b="true">
                <a:solidFill>
                  <a:srgbClr val="1D2024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Dataset Overview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28451" y="3598090"/>
            <a:ext cx="5262019" cy="498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9"/>
              </a:lnSpc>
            </a:pPr>
            <a:r>
              <a:rPr lang="en-US" sz="3999" spc="-319" b="true">
                <a:solidFill>
                  <a:srgbClr val="1D2024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Total Records : 1002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78222" y="5352823"/>
            <a:ext cx="7426418" cy="1243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57" indent="-259078" lvl="1">
              <a:lnSpc>
                <a:spcPts val="3359"/>
              </a:lnSpc>
              <a:buFont typeface="Arial"/>
              <a:buChar char="•"/>
            </a:pPr>
            <a:r>
              <a:rPr lang="en-US" sz="2399" spc="-119">
                <a:solidFill>
                  <a:srgbClr val="1D2024"/>
                </a:solidFill>
                <a:latin typeface="Arial Nova"/>
                <a:ea typeface="Arial Nova"/>
                <a:cs typeface="Arial Nova"/>
                <a:sym typeface="Arial Nova"/>
              </a:rPr>
              <a:t>Question : Questions about Apple products</a:t>
            </a:r>
          </a:p>
          <a:p>
            <a:pPr algn="just" marL="518157" indent="-259078" lvl="1">
              <a:lnSpc>
                <a:spcPts val="3359"/>
              </a:lnSpc>
              <a:buFont typeface="Arial"/>
              <a:buChar char="•"/>
            </a:pPr>
            <a:r>
              <a:rPr lang="en-US" sz="2399" spc="-119">
                <a:solidFill>
                  <a:srgbClr val="1D2024"/>
                </a:solidFill>
                <a:latin typeface="Arial Nova"/>
                <a:ea typeface="Arial Nova"/>
                <a:cs typeface="Arial Nova"/>
                <a:sym typeface="Arial Nova"/>
              </a:rPr>
              <a:t>Answer : Answers to questions about apple products asked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28451" y="4549549"/>
            <a:ext cx="7028875" cy="498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9"/>
              </a:lnSpc>
            </a:pPr>
            <a:r>
              <a:rPr lang="en-US" sz="3999" spc="-319" b="true">
                <a:solidFill>
                  <a:srgbClr val="1D2024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Features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2903202">
            <a:off x="1098214" y="3629489"/>
            <a:ext cx="322624" cy="330902"/>
          </a:xfrm>
          <a:custGeom>
            <a:avLst/>
            <a:gdLst/>
            <a:ahLst/>
            <a:cxnLst/>
            <a:rect r="r" b="b" t="t" l="l"/>
            <a:pathLst>
              <a:path h="330902" w="322624">
                <a:moveTo>
                  <a:pt x="0" y="0"/>
                </a:moveTo>
                <a:lnTo>
                  <a:pt x="322624" y="0"/>
                </a:lnTo>
                <a:lnTo>
                  <a:pt x="322624" y="330902"/>
                </a:lnTo>
                <a:lnTo>
                  <a:pt x="0" y="3309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2903202">
            <a:off x="1098214" y="4580948"/>
            <a:ext cx="322624" cy="330902"/>
          </a:xfrm>
          <a:custGeom>
            <a:avLst/>
            <a:gdLst/>
            <a:ahLst/>
            <a:cxnLst/>
            <a:rect r="r" b="b" t="t" l="l"/>
            <a:pathLst>
              <a:path h="330902" w="322624">
                <a:moveTo>
                  <a:pt x="0" y="0"/>
                </a:moveTo>
                <a:lnTo>
                  <a:pt x="322624" y="0"/>
                </a:lnTo>
                <a:lnTo>
                  <a:pt x="322624" y="330902"/>
                </a:lnTo>
                <a:lnTo>
                  <a:pt x="0" y="3309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2575741"/>
            <a:ext cx="5262019" cy="498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9"/>
              </a:lnSpc>
            </a:pPr>
            <a:r>
              <a:rPr lang="en-US" sz="3999" spc="-319" b="true">
                <a:solidFill>
                  <a:srgbClr val="1D2024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Dataset : apple.csv</a:t>
            </a:r>
          </a:p>
        </p:txBody>
      </p:sp>
      <p:sp>
        <p:nvSpPr>
          <p:cNvPr name="TextBox 11" id="11"/>
          <p:cNvSpPr txBox="true"/>
          <p:nvPr/>
        </p:nvSpPr>
        <p:spPr>
          <a:xfrm rot="3483114">
            <a:off x="16227462" y="-1363821"/>
            <a:ext cx="3213715" cy="6602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241"/>
              </a:lnSpc>
            </a:pPr>
            <a:r>
              <a:rPr lang="en-US" sz="38744" i="true" spc="-2324">
                <a:solidFill>
                  <a:srgbClr val="1D2024"/>
                </a:solidFill>
                <a:latin typeface="Museo Moderno Italics"/>
                <a:ea typeface="Museo Moderno Italics"/>
                <a:cs typeface="Museo Moderno Italics"/>
                <a:sym typeface="Museo Moderno Italics"/>
              </a:rPr>
              <a:t>E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42124">
            <a:off x="15989715" y="3118210"/>
            <a:ext cx="1507806" cy="1546494"/>
          </a:xfrm>
          <a:custGeom>
            <a:avLst/>
            <a:gdLst/>
            <a:ahLst/>
            <a:cxnLst/>
            <a:rect r="r" b="b" t="t" l="l"/>
            <a:pathLst>
              <a:path h="1546494" w="1507806">
                <a:moveTo>
                  <a:pt x="0" y="0"/>
                </a:moveTo>
                <a:lnTo>
                  <a:pt x="1507807" y="0"/>
                </a:lnTo>
                <a:lnTo>
                  <a:pt x="1507807" y="1546494"/>
                </a:lnTo>
                <a:lnTo>
                  <a:pt x="0" y="15464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push dir="u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-7891318">
            <a:off x="-297034" y="143530"/>
            <a:ext cx="3213715" cy="6602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241"/>
              </a:lnSpc>
            </a:pPr>
            <a:r>
              <a:rPr lang="en-US" sz="38744" i="true" spc="-2324">
                <a:solidFill>
                  <a:srgbClr val="F8F8F8"/>
                </a:solidFill>
                <a:latin typeface="Museo Moderno Italics"/>
                <a:ea typeface="Museo Moderno Italics"/>
                <a:cs typeface="Museo Moderno Italics"/>
                <a:sym typeface="Museo Moderno Italics"/>
              </a:rPr>
              <a:t>E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10267691">
            <a:off x="1306466" y="563670"/>
            <a:ext cx="1507806" cy="1546494"/>
          </a:xfrm>
          <a:custGeom>
            <a:avLst/>
            <a:gdLst/>
            <a:ahLst/>
            <a:cxnLst/>
            <a:rect r="r" b="b" t="t" l="l"/>
            <a:pathLst>
              <a:path h="1546494" w="1507806">
                <a:moveTo>
                  <a:pt x="0" y="0"/>
                </a:moveTo>
                <a:lnTo>
                  <a:pt x="1507807" y="0"/>
                </a:lnTo>
                <a:lnTo>
                  <a:pt x="1507807" y="1546494"/>
                </a:lnTo>
                <a:lnTo>
                  <a:pt x="0" y="15464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35960" y="8086657"/>
            <a:ext cx="7163035" cy="1171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91"/>
              </a:lnSpc>
            </a:pPr>
            <a:r>
              <a:rPr lang="en-US" sz="9149" spc="-731" b="true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Tools &amp; Library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098099" y="1513421"/>
            <a:ext cx="1641793" cy="35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2799" spc="-223" b="true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Python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-2903202">
            <a:off x="8601187" y="1401946"/>
            <a:ext cx="322624" cy="330902"/>
          </a:xfrm>
          <a:custGeom>
            <a:avLst/>
            <a:gdLst/>
            <a:ahLst/>
            <a:cxnLst/>
            <a:rect r="r" b="b" t="t" l="l"/>
            <a:pathLst>
              <a:path h="330902" w="322624">
                <a:moveTo>
                  <a:pt x="0" y="0"/>
                </a:moveTo>
                <a:lnTo>
                  <a:pt x="322624" y="0"/>
                </a:lnTo>
                <a:lnTo>
                  <a:pt x="322624" y="330902"/>
                </a:lnTo>
                <a:lnTo>
                  <a:pt x="0" y="3309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098099" y="2490687"/>
            <a:ext cx="2391893" cy="35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2799" spc="-223" b="true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Langchain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-2903202">
            <a:off x="8601187" y="2379212"/>
            <a:ext cx="322624" cy="330902"/>
          </a:xfrm>
          <a:custGeom>
            <a:avLst/>
            <a:gdLst/>
            <a:ahLst/>
            <a:cxnLst/>
            <a:rect r="r" b="b" t="t" l="l"/>
            <a:pathLst>
              <a:path h="330902" w="322624">
                <a:moveTo>
                  <a:pt x="0" y="0"/>
                </a:moveTo>
                <a:lnTo>
                  <a:pt x="322624" y="0"/>
                </a:lnTo>
                <a:lnTo>
                  <a:pt x="322624" y="330901"/>
                </a:lnTo>
                <a:lnTo>
                  <a:pt x="0" y="33090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9098099" y="3465412"/>
            <a:ext cx="2391893" cy="35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2799" spc="-223" b="true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Streamlit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-2903202">
            <a:off x="8601187" y="3353936"/>
            <a:ext cx="322624" cy="330902"/>
          </a:xfrm>
          <a:custGeom>
            <a:avLst/>
            <a:gdLst/>
            <a:ahLst/>
            <a:cxnLst/>
            <a:rect r="r" b="b" t="t" l="l"/>
            <a:pathLst>
              <a:path h="330902" w="322624">
                <a:moveTo>
                  <a:pt x="0" y="0"/>
                </a:moveTo>
                <a:lnTo>
                  <a:pt x="322624" y="0"/>
                </a:lnTo>
                <a:lnTo>
                  <a:pt x="322624" y="330902"/>
                </a:lnTo>
                <a:lnTo>
                  <a:pt x="0" y="3309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098099" y="4440136"/>
            <a:ext cx="2391893" cy="35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2799" spc="-223" b="true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Chromadb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-2903202">
            <a:off x="8601187" y="4328660"/>
            <a:ext cx="322624" cy="330902"/>
          </a:xfrm>
          <a:custGeom>
            <a:avLst/>
            <a:gdLst/>
            <a:ahLst/>
            <a:cxnLst/>
            <a:rect r="r" b="b" t="t" l="l"/>
            <a:pathLst>
              <a:path h="330902" w="322624">
                <a:moveTo>
                  <a:pt x="0" y="0"/>
                </a:moveTo>
                <a:lnTo>
                  <a:pt x="322624" y="0"/>
                </a:lnTo>
                <a:lnTo>
                  <a:pt x="322624" y="330902"/>
                </a:lnTo>
                <a:lnTo>
                  <a:pt x="0" y="3309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9098099" y="5414861"/>
            <a:ext cx="2391893" cy="35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2799" spc="-223" b="true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Pandas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-2903202">
            <a:off x="8601187" y="5303385"/>
            <a:ext cx="322624" cy="330902"/>
          </a:xfrm>
          <a:custGeom>
            <a:avLst/>
            <a:gdLst/>
            <a:ahLst/>
            <a:cxnLst/>
            <a:rect r="r" b="b" t="t" l="l"/>
            <a:pathLst>
              <a:path h="330902" w="322624">
                <a:moveTo>
                  <a:pt x="0" y="0"/>
                </a:moveTo>
                <a:lnTo>
                  <a:pt x="322624" y="0"/>
                </a:lnTo>
                <a:lnTo>
                  <a:pt x="322624" y="330902"/>
                </a:lnTo>
                <a:lnTo>
                  <a:pt x="0" y="3309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9098099" y="6389585"/>
            <a:ext cx="3601239" cy="35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2799" spc="-223" b="true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LLM Model : llama3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-2903202">
            <a:off x="8601187" y="6278109"/>
            <a:ext cx="322624" cy="330902"/>
          </a:xfrm>
          <a:custGeom>
            <a:avLst/>
            <a:gdLst/>
            <a:ahLst/>
            <a:cxnLst/>
            <a:rect r="r" b="b" t="t" l="l"/>
            <a:pathLst>
              <a:path h="330902" w="322624">
                <a:moveTo>
                  <a:pt x="0" y="0"/>
                </a:moveTo>
                <a:lnTo>
                  <a:pt x="322624" y="0"/>
                </a:lnTo>
                <a:lnTo>
                  <a:pt x="322624" y="330902"/>
                </a:lnTo>
                <a:lnTo>
                  <a:pt x="0" y="3309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9098099" y="7273822"/>
            <a:ext cx="7810985" cy="35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2799" spc="-223" b="true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Embedding Model : Qwen/Qwen3-Embedding-0.6B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-2903202">
            <a:off x="8601187" y="7252834"/>
            <a:ext cx="322624" cy="330902"/>
          </a:xfrm>
          <a:custGeom>
            <a:avLst/>
            <a:gdLst/>
            <a:ahLst/>
            <a:cxnLst/>
            <a:rect r="r" b="b" t="t" l="l"/>
            <a:pathLst>
              <a:path h="330902" w="322624">
                <a:moveTo>
                  <a:pt x="0" y="0"/>
                </a:moveTo>
                <a:lnTo>
                  <a:pt x="322624" y="0"/>
                </a:lnTo>
                <a:lnTo>
                  <a:pt x="322624" y="330902"/>
                </a:lnTo>
                <a:lnTo>
                  <a:pt x="0" y="3309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push dir="u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537787">
            <a:off x="14782718" y="-3427106"/>
            <a:ext cx="3213715" cy="6602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241"/>
              </a:lnSpc>
            </a:pPr>
            <a:r>
              <a:rPr lang="en-US" sz="38744" i="true" spc="-2324">
                <a:solidFill>
                  <a:srgbClr val="F8F8F8"/>
                </a:solidFill>
                <a:latin typeface="Museo Moderno Italics"/>
                <a:ea typeface="Museo Moderno Italics"/>
                <a:cs typeface="Museo Moderno Italics"/>
                <a:sym typeface="Museo Moderno Italics"/>
              </a:rPr>
              <a:t>E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2903202">
            <a:off x="16397959" y="1204899"/>
            <a:ext cx="1507806" cy="1546494"/>
          </a:xfrm>
          <a:custGeom>
            <a:avLst/>
            <a:gdLst/>
            <a:ahLst/>
            <a:cxnLst/>
            <a:rect r="r" b="b" t="t" l="l"/>
            <a:pathLst>
              <a:path h="1546494" w="1507806">
                <a:moveTo>
                  <a:pt x="0" y="0"/>
                </a:moveTo>
                <a:lnTo>
                  <a:pt x="1507806" y="0"/>
                </a:lnTo>
                <a:lnTo>
                  <a:pt x="1507806" y="1546494"/>
                </a:lnTo>
                <a:lnTo>
                  <a:pt x="0" y="15464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728013" y="4022484"/>
            <a:ext cx="15531287" cy="4171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 spc="-149">
                <a:solidFill>
                  <a:srgbClr val="F8F8F8"/>
                </a:solidFill>
                <a:latin typeface="Arial Nova"/>
                <a:ea typeface="Arial Nova"/>
                <a:cs typeface="Arial Nova"/>
                <a:sym typeface="Arial Nova"/>
              </a:rPr>
              <a:t>According to the previous questions and answers, you can use the Calculator app on an iPhone by:</a:t>
            </a:r>
          </a:p>
          <a:p>
            <a:pPr algn="just" marL="647694" indent="-323847" lvl="1">
              <a:lnSpc>
                <a:spcPts val="4199"/>
              </a:lnSpc>
              <a:buFont typeface="Arial"/>
              <a:buChar char="•"/>
            </a:pPr>
            <a:r>
              <a:rPr lang="en-US" sz="2999" spc="-149">
                <a:solidFill>
                  <a:srgbClr val="F8F8F8"/>
                </a:solidFill>
                <a:latin typeface="Arial Nova"/>
                <a:ea typeface="Arial Nova"/>
                <a:cs typeface="Arial Nova"/>
                <a:sym typeface="Arial Nova"/>
              </a:rPr>
              <a:t>Opening the Calculator app.</a:t>
            </a:r>
          </a:p>
          <a:p>
            <a:pPr algn="just" marL="647694" indent="-323847" lvl="1">
              <a:lnSpc>
                <a:spcPts val="4199"/>
              </a:lnSpc>
              <a:buFont typeface="Arial"/>
              <a:buChar char="•"/>
            </a:pPr>
            <a:r>
              <a:rPr lang="en-US" sz="2999" spc="-149">
                <a:solidFill>
                  <a:srgbClr val="F8F8F8"/>
                </a:solidFill>
                <a:latin typeface="Arial Nova"/>
                <a:ea typeface="Arial Nova"/>
                <a:cs typeface="Arial Nova"/>
                <a:sym typeface="Arial Nova"/>
              </a:rPr>
              <a:t>Using the standard calculator interface to perform basic arithmetic operations (addition, subtraction, multiplication, and division).</a:t>
            </a:r>
          </a:p>
          <a:p>
            <a:pPr algn="just" marL="647694" indent="-323847" lvl="1">
              <a:lnSpc>
                <a:spcPts val="4199"/>
              </a:lnSpc>
              <a:buFont typeface="Arial"/>
              <a:buChar char="•"/>
            </a:pPr>
            <a:r>
              <a:rPr lang="en-US" sz="2999" spc="-149">
                <a:solidFill>
                  <a:srgbClr val="F8F8F8"/>
                </a:solidFill>
                <a:latin typeface="Arial Nova"/>
                <a:ea typeface="Arial Nova"/>
                <a:cs typeface="Arial Nova"/>
                <a:sym typeface="Arial Nova"/>
              </a:rPr>
              <a:t>Swiping to the left to reveal a scientific calculator with more advanced functions. So, to answer your question: To use the calculator on your iPhone, open the Calculator app and start performing calculations using the basic or scientific calculator interfaces!</a:t>
            </a:r>
          </a:p>
          <a:p>
            <a:pPr algn="just">
              <a:lnSpc>
                <a:spcPts val="419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937795"/>
            <a:ext cx="10438983" cy="1171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91"/>
              </a:lnSpc>
            </a:pPr>
            <a:r>
              <a:rPr lang="en-US" sz="9149" spc="-731" b="true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Results and Evaluation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-2903202">
            <a:off x="1098214" y="3245553"/>
            <a:ext cx="322624" cy="330902"/>
          </a:xfrm>
          <a:custGeom>
            <a:avLst/>
            <a:gdLst/>
            <a:ahLst/>
            <a:cxnLst/>
            <a:rect r="r" b="b" t="t" l="l"/>
            <a:pathLst>
              <a:path h="330902" w="322624">
                <a:moveTo>
                  <a:pt x="0" y="0"/>
                </a:moveTo>
                <a:lnTo>
                  <a:pt x="322624" y="0"/>
                </a:lnTo>
                <a:lnTo>
                  <a:pt x="322624" y="330902"/>
                </a:lnTo>
                <a:lnTo>
                  <a:pt x="0" y="3309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728013" y="3123375"/>
            <a:ext cx="8152068" cy="504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 spc="-149">
                <a:solidFill>
                  <a:srgbClr val="F8F8F8"/>
                </a:solidFill>
                <a:latin typeface="Arial Nova"/>
                <a:ea typeface="Arial Nova"/>
                <a:cs typeface="Arial Nova"/>
                <a:sym typeface="Arial Nova"/>
              </a:rPr>
              <a:t>Can i use calculator on iphone and how 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2239611"/>
            <a:ext cx="10438983" cy="504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 spc="-149">
                <a:solidFill>
                  <a:srgbClr val="F8F8F8"/>
                </a:solidFill>
                <a:latin typeface="Arial Nova"/>
                <a:ea typeface="Arial Nova"/>
                <a:cs typeface="Arial Nova"/>
                <a:sym typeface="Arial Nova"/>
              </a:rPr>
              <a:t>Following are some questions and how the model can answer them.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-2903202">
            <a:off x="1098214" y="4144663"/>
            <a:ext cx="322624" cy="330902"/>
          </a:xfrm>
          <a:custGeom>
            <a:avLst/>
            <a:gdLst/>
            <a:ahLst/>
            <a:cxnLst/>
            <a:rect r="r" b="b" t="t" l="l"/>
            <a:pathLst>
              <a:path h="330902" w="322624">
                <a:moveTo>
                  <a:pt x="0" y="0"/>
                </a:moveTo>
                <a:lnTo>
                  <a:pt x="322624" y="0"/>
                </a:lnTo>
                <a:lnTo>
                  <a:pt x="322624" y="330902"/>
                </a:lnTo>
                <a:lnTo>
                  <a:pt x="0" y="3309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push dir="u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537787">
            <a:off x="14782718" y="-3427106"/>
            <a:ext cx="3213715" cy="6602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241"/>
              </a:lnSpc>
            </a:pPr>
            <a:r>
              <a:rPr lang="en-US" sz="38744" i="true" spc="-2324">
                <a:solidFill>
                  <a:srgbClr val="F8F8F8"/>
                </a:solidFill>
                <a:latin typeface="Museo Moderno Italics"/>
                <a:ea typeface="Museo Moderno Italics"/>
                <a:cs typeface="Museo Moderno Italics"/>
                <a:sym typeface="Museo Moderno Italics"/>
              </a:rPr>
              <a:t>E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2903202">
            <a:off x="16397959" y="1204899"/>
            <a:ext cx="1507806" cy="1546494"/>
          </a:xfrm>
          <a:custGeom>
            <a:avLst/>
            <a:gdLst/>
            <a:ahLst/>
            <a:cxnLst/>
            <a:rect r="r" b="b" t="t" l="l"/>
            <a:pathLst>
              <a:path h="1546494" w="1507806">
                <a:moveTo>
                  <a:pt x="0" y="0"/>
                </a:moveTo>
                <a:lnTo>
                  <a:pt x="1507806" y="0"/>
                </a:lnTo>
                <a:lnTo>
                  <a:pt x="1507806" y="1546494"/>
                </a:lnTo>
                <a:lnTo>
                  <a:pt x="0" y="15464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728013" y="4022484"/>
            <a:ext cx="15531287" cy="1028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 spc="-149">
                <a:solidFill>
                  <a:srgbClr val="F8F8F8"/>
                </a:solidFill>
                <a:latin typeface="Arial Nova"/>
                <a:ea typeface="Arial Nova"/>
                <a:cs typeface="Arial Nova"/>
                <a:sym typeface="Arial Nova"/>
              </a:rPr>
              <a:t>According to the provided context, to check the amount of RAM in your Mac: Helpful Answer: Click on the Apple menu and select "About This Mac", it will display the amount of RAM.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937795"/>
            <a:ext cx="10438983" cy="1171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91"/>
              </a:lnSpc>
            </a:pPr>
            <a:r>
              <a:rPr lang="en-US" sz="9149" spc="-731" b="true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Results and Evaluation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-2903202">
            <a:off x="1098214" y="3245553"/>
            <a:ext cx="322624" cy="330902"/>
          </a:xfrm>
          <a:custGeom>
            <a:avLst/>
            <a:gdLst/>
            <a:ahLst/>
            <a:cxnLst/>
            <a:rect r="r" b="b" t="t" l="l"/>
            <a:pathLst>
              <a:path h="330902" w="322624">
                <a:moveTo>
                  <a:pt x="0" y="0"/>
                </a:moveTo>
                <a:lnTo>
                  <a:pt x="322624" y="0"/>
                </a:lnTo>
                <a:lnTo>
                  <a:pt x="322624" y="330902"/>
                </a:lnTo>
                <a:lnTo>
                  <a:pt x="0" y="3309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728013" y="3123375"/>
            <a:ext cx="8152068" cy="504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 spc="-149">
                <a:solidFill>
                  <a:srgbClr val="F8F8F8"/>
                </a:solidFill>
                <a:latin typeface="Arial Nova"/>
                <a:ea typeface="Arial Nova"/>
                <a:cs typeface="Arial Nova"/>
                <a:sym typeface="Arial Nova"/>
              </a:rPr>
              <a:t>How to check RAM of a mac 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2239611"/>
            <a:ext cx="10438983" cy="504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 spc="-149">
                <a:solidFill>
                  <a:srgbClr val="F8F8F8"/>
                </a:solidFill>
                <a:latin typeface="Arial Nova"/>
                <a:ea typeface="Arial Nova"/>
                <a:cs typeface="Arial Nova"/>
                <a:sym typeface="Arial Nova"/>
              </a:rPr>
              <a:t>Following are some questions and how the model can answer them.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-2903202">
            <a:off x="1098214" y="4144663"/>
            <a:ext cx="322624" cy="330902"/>
          </a:xfrm>
          <a:custGeom>
            <a:avLst/>
            <a:gdLst/>
            <a:ahLst/>
            <a:cxnLst/>
            <a:rect r="r" b="b" t="t" l="l"/>
            <a:pathLst>
              <a:path h="330902" w="322624">
                <a:moveTo>
                  <a:pt x="0" y="0"/>
                </a:moveTo>
                <a:lnTo>
                  <a:pt x="322624" y="0"/>
                </a:lnTo>
                <a:lnTo>
                  <a:pt x="322624" y="330902"/>
                </a:lnTo>
                <a:lnTo>
                  <a:pt x="0" y="3309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728013" y="6859767"/>
            <a:ext cx="15531287" cy="1028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 spc="-149">
                <a:solidFill>
                  <a:srgbClr val="F8F8F8"/>
                </a:solidFill>
                <a:latin typeface="Arial Nova"/>
                <a:ea typeface="Arial Nova"/>
                <a:cs typeface="Arial Nova"/>
                <a:sym typeface="Arial Nova"/>
              </a:rPr>
              <a:t>According to the provided context, it seems that: Yes, you can pair a Bluetooth keyboard and mouse with your Apple TV.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-2903202">
            <a:off x="1098214" y="6082836"/>
            <a:ext cx="322624" cy="330902"/>
          </a:xfrm>
          <a:custGeom>
            <a:avLst/>
            <a:gdLst/>
            <a:ahLst/>
            <a:cxnLst/>
            <a:rect r="r" b="b" t="t" l="l"/>
            <a:pathLst>
              <a:path h="330902" w="322624">
                <a:moveTo>
                  <a:pt x="0" y="0"/>
                </a:moveTo>
                <a:lnTo>
                  <a:pt x="322624" y="0"/>
                </a:lnTo>
                <a:lnTo>
                  <a:pt x="322624" y="330902"/>
                </a:lnTo>
                <a:lnTo>
                  <a:pt x="0" y="3309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728013" y="5960657"/>
            <a:ext cx="8152068" cy="504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 spc="-149">
                <a:solidFill>
                  <a:srgbClr val="F8F8F8"/>
                </a:solidFill>
                <a:latin typeface="Arial Nova"/>
                <a:ea typeface="Arial Nova"/>
                <a:cs typeface="Arial Nova"/>
                <a:sym typeface="Arial Nova"/>
              </a:rPr>
              <a:t>Can I use keyboard and mouse for apple TV ?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-2903202">
            <a:off x="1098214" y="6981946"/>
            <a:ext cx="322624" cy="330902"/>
          </a:xfrm>
          <a:custGeom>
            <a:avLst/>
            <a:gdLst/>
            <a:ahLst/>
            <a:cxnLst/>
            <a:rect r="r" b="b" t="t" l="l"/>
            <a:pathLst>
              <a:path h="330902" w="322624">
                <a:moveTo>
                  <a:pt x="0" y="0"/>
                </a:moveTo>
                <a:lnTo>
                  <a:pt x="322624" y="0"/>
                </a:lnTo>
                <a:lnTo>
                  <a:pt x="322624" y="330902"/>
                </a:lnTo>
                <a:lnTo>
                  <a:pt x="0" y="3309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5" id="15"/>
          <p:cNvSpPr/>
          <p:nvPr/>
        </p:nvSpPr>
        <p:spPr>
          <a:xfrm>
            <a:off x="0" y="5560607"/>
            <a:ext cx="18230642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6" id="16"/>
          <p:cNvSpPr txBox="true"/>
          <p:nvPr/>
        </p:nvSpPr>
        <p:spPr>
          <a:xfrm rot="0">
            <a:off x="1490351" y="8531405"/>
            <a:ext cx="15531287" cy="1028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 spc="-149">
                <a:solidFill>
                  <a:srgbClr val="F8F8F8"/>
                </a:solidFill>
                <a:latin typeface="Arial Nova"/>
                <a:ea typeface="Arial Nova"/>
                <a:cs typeface="Arial Nova"/>
                <a:sym typeface="Arial Nova"/>
              </a:rPr>
              <a:t>From these results, it can be concluded that the model can answer questions according to the context asked well and appropriately.</a:t>
            </a:r>
          </a:p>
        </p:txBody>
      </p:sp>
      <p:sp>
        <p:nvSpPr>
          <p:cNvPr name="AutoShape 17" id="17"/>
          <p:cNvSpPr/>
          <p:nvPr/>
        </p:nvSpPr>
        <p:spPr>
          <a:xfrm>
            <a:off x="28679" y="8131355"/>
            <a:ext cx="18230642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  <p:transition spd="fast">
    <p:push dir="u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3440989">
            <a:off x="15722275" y="-1941037"/>
            <a:ext cx="3213715" cy="6602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241"/>
              </a:lnSpc>
            </a:pPr>
            <a:r>
              <a:rPr lang="en-US" sz="38744" i="true" spc="-2324">
                <a:solidFill>
                  <a:srgbClr val="F8F8F8"/>
                </a:solidFill>
                <a:latin typeface="Museo Moderno Italics"/>
                <a:ea typeface="Museo Moderno Italics"/>
                <a:cs typeface="Museo Moderno Italics"/>
                <a:sym typeface="Museo Moderno Italics"/>
              </a:rPr>
              <a:t>E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5508551" y="2554212"/>
            <a:ext cx="1507806" cy="1546494"/>
          </a:xfrm>
          <a:custGeom>
            <a:avLst/>
            <a:gdLst/>
            <a:ahLst/>
            <a:cxnLst/>
            <a:rect r="r" b="b" t="t" l="l"/>
            <a:pathLst>
              <a:path h="1546494" w="1507806">
                <a:moveTo>
                  <a:pt x="0" y="0"/>
                </a:moveTo>
                <a:lnTo>
                  <a:pt x="1507806" y="0"/>
                </a:lnTo>
                <a:lnTo>
                  <a:pt x="1507806" y="1546494"/>
                </a:lnTo>
                <a:lnTo>
                  <a:pt x="0" y="15464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247775"/>
            <a:ext cx="6321085" cy="1171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91"/>
              </a:lnSpc>
            </a:pPr>
            <a:r>
              <a:rPr lang="en-US" sz="9149" spc="-731" b="true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Contribution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37004" y="3712272"/>
            <a:ext cx="8650460" cy="498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9"/>
              </a:lnSpc>
            </a:pPr>
            <a:r>
              <a:rPr lang="en-US" sz="3999" spc="-319" b="true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Using larger and more complex datasets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-2903202">
            <a:off x="1098214" y="3743671"/>
            <a:ext cx="322624" cy="330902"/>
          </a:xfrm>
          <a:custGeom>
            <a:avLst/>
            <a:gdLst/>
            <a:ahLst/>
            <a:cxnLst/>
            <a:rect r="r" b="b" t="t" l="l"/>
            <a:pathLst>
              <a:path h="330902" w="322624">
                <a:moveTo>
                  <a:pt x="0" y="0"/>
                </a:moveTo>
                <a:lnTo>
                  <a:pt x="322624" y="0"/>
                </a:lnTo>
                <a:lnTo>
                  <a:pt x="322624" y="330902"/>
                </a:lnTo>
                <a:lnTo>
                  <a:pt x="0" y="3309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028700" y="4831384"/>
            <a:ext cx="9158764" cy="603249"/>
            <a:chOff x="0" y="0"/>
            <a:chExt cx="12211685" cy="804333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677738" y="104775"/>
              <a:ext cx="11533947" cy="6995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99"/>
                </a:lnSpc>
              </a:pPr>
              <a:r>
                <a:rPr lang="en-US" sz="3999" spc="-319" b="true">
                  <a:solidFill>
                    <a:srgbClr val="F8F8F8"/>
                  </a:solidFill>
                  <a:latin typeface="Arial Nova Bold"/>
                  <a:ea typeface="Arial Nova Bold"/>
                  <a:cs typeface="Arial Nova Bold"/>
                  <a:sym typeface="Arial Nova Bold"/>
                </a:rPr>
                <a:t>Experimenting with different LLM models</a:t>
              </a:r>
            </a:p>
          </p:txBody>
        </p:sp>
        <p:sp>
          <p:nvSpPr>
            <p:cNvPr name="Freeform 10" id="10"/>
            <p:cNvSpPr/>
            <p:nvPr/>
          </p:nvSpPr>
          <p:spPr>
            <a:xfrm flipH="false" flipV="false" rot="-2903202">
              <a:off x="92685" y="181565"/>
              <a:ext cx="430165" cy="441202"/>
            </a:xfrm>
            <a:custGeom>
              <a:avLst/>
              <a:gdLst/>
              <a:ahLst/>
              <a:cxnLst/>
              <a:rect r="r" b="b" t="t" l="l"/>
              <a:pathLst>
                <a:path h="441202" w="430165">
                  <a:moveTo>
                    <a:pt x="0" y="0"/>
                  </a:moveTo>
                  <a:lnTo>
                    <a:pt x="430165" y="0"/>
                  </a:lnTo>
                  <a:lnTo>
                    <a:pt x="430165" y="441203"/>
                  </a:lnTo>
                  <a:lnTo>
                    <a:pt x="0" y="4412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028700" y="6076253"/>
            <a:ext cx="11378449" cy="603249"/>
            <a:chOff x="0" y="0"/>
            <a:chExt cx="15171265" cy="804333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677738" y="104775"/>
              <a:ext cx="14493526" cy="6995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99"/>
                </a:lnSpc>
              </a:pPr>
              <a:r>
                <a:rPr lang="en-US" sz="3999" spc="-319" b="true">
                  <a:solidFill>
                    <a:srgbClr val="F8F8F8"/>
                  </a:solidFill>
                  <a:latin typeface="Arial Nova Bold"/>
                  <a:ea typeface="Arial Nova Bold"/>
                  <a:cs typeface="Arial Nova Bold"/>
                  <a:sym typeface="Arial Nova Bold"/>
                </a:rPr>
                <a:t>Refining the design of streamlit to make it even better</a:t>
              </a:r>
            </a:p>
          </p:txBody>
        </p:sp>
        <p:sp>
          <p:nvSpPr>
            <p:cNvPr name="Freeform 13" id="13"/>
            <p:cNvSpPr/>
            <p:nvPr/>
          </p:nvSpPr>
          <p:spPr>
            <a:xfrm flipH="false" flipV="false" rot="-2903202">
              <a:off x="92685" y="181565"/>
              <a:ext cx="430165" cy="441202"/>
            </a:xfrm>
            <a:custGeom>
              <a:avLst/>
              <a:gdLst/>
              <a:ahLst/>
              <a:cxnLst/>
              <a:rect r="r" b="b" t="t" l="l"/>
              <a:pathLst>
                <a:path h="441202" w="430165">
                  <a:moveTo>
                    <a:pt x="0" y="0"/>
                  </a:moveTo>
                  <a:lnTo>
                    <a:pt x="430165" y="0"/>
                  </a:lnTo>
                  <a:lnTo>
                    <a:pt x="430165" y="441203"/>
                  </a:lnTo>
                  <a:lnTo>
                    <a:pt x="0" y="4412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  <p:transition spd="fast">
    <p:push dir="u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-7750022">
            <a:off x="-528193" y="4970704"/>
            <a:ext cx="3213715" cy="6602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241"/>
              </a:lnSpc>
            </a:pPr>
            <a:r>
              <a:rPr lang="en-US" sz="38744" i="true" spc="-2324">
                <a:solidFill>
                  <a:srgbClr val="F8F8F8"/>
                </a:solidFill>
                <a:latin typeface="Museo Moderno Italics"/>
                <a:ea typeface="Museo Moderno Italics"/>
                <a:cs typeface="Museo Moderno Italics"/>
                <a:sym typeface="Museo Moderno Italics"/>
              </a:rPr>
              <a:t>E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10408988">
            <a:off x="1161293" y="5423465"/>
            <a:ext cx="1507806" cy="1546494"/>
          </a:xfrm>
          <a:custGeom>
            <a:avLst/>
            <a:gdLst/>
            <a:ahLst/>
            <a:cxnLst/>
            <a:rect r="r" b="b" t="t" l="l"/>
            <a:pathLst>
              <a:path h="1546494" w="1507806">
                <a:moveTo>
                  <a:pt x="0" y="0"/>
                </a:moveTo>
                <a:lnTo>
                  <a:pt x="1507807" y="0"/>
                </a:lnTo>
                <a:lnTo>
                  <a:pt x="1507807" y="1546494"/>
                </a:lnTo>
                <a:lnTo>
                  <a:pt x="0" y="15464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830048" y="1247775"/>
            <a:ext cx="5429252" cy="1171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91"/>
              </a:lnSpc>
            </a:pPr>
            <a:r>
              <a:rPr lang="en-US" sz="9149" spc="-731" b="true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Conclusion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832729" y="3314071"/>
            <a:ext cx="10426571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3600" spc="-288">
                <a:solidFill>
                  <a:srgbClr val="F1F1F1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IPhone QA RAG can answer iPhone questions quickly &amp; relevantly.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10408988">
            <a:off x="5637820" y="3400407"/>
            <a:ext cx="890334" cy="913178"/>
          </a:xfrm>
          <a:custGeom>
            <a:avLst/>
            <a:gdLst/>
            <a:ahLst/>
            <a:cxnLst/>
            <a:rect r="r" b="b" t="t" l="l"/>
            <a:pathLst>
              <a:path h="913178" w="890334">
                <a:moveTo>
                  <a:pt x="0" y="0"/>
                </a:moveTo>
                <a:lnTo>
                  <a:pt x="890334" y="0"/>
                </a:lnTo>
                <a:lnTo>
                  <a:pt x="890334" y="913178"/>
                </a:lnTo>
                <a:lnTo>
                  <a:pt x="0" y="91317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832729" y="4780921"/>
            <a:ext cx="10426571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3600" spc="-288">
                <a:solidFill>
                  <a:srgbClr val="F1F1F1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The Retrieval + LLM approach improves the accuracy of the answers.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10408988">
            <a:off x="5637820" y="4867257"/>
            <a:ext cx="890334" cy="913178"/>
          </a:xfrm>
          <a:custGeom>
            <a:avLst/>
            <a:gdLst/>
            <a:ahLst/>
            <a:cxnLst/>
            <a:rect r="r" b="b" t="t" l="l"/>
            <a:pathLst>
              <a:path h="913178" w="890334">
                <a:moveTo>
                  <a:pt x="0" y="0"/>
                </a:moveTo>
                <a:lnTo>
                  <a:pt x="890334" y="0"/>
                </a:lnTo>
                <a:lnTo>
                  <a:pt x="890334" y="913178"/>
                </a:lnTo>
                <a:lnTo>
                  <a:pt x="0" y="91317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832729" y="6285871"/>
            <a:ext cx="10426571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3600" spc="-288">
                <a:solidFill>
                  <a:srgbClr val="F1F1F1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Still needs development: data updates, multi-language, and official API integration.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10408988">
            <a:off x="5637820" y="6372207"/>
            <a:ext cx="890334" cy="913178"/>
          </a:xfrm>
          <a:custGeom>
            <a:avLst/>
            <a:gdLst/>
            <a:ahLst/>
            <a:cxnLst/>
            <a:rect r="r" b="b" t="t" l="l"/>
            <a:pathLst>
              <a:path h="913178" w="890334">
                <a:moveTo>
                  <a:pt x="0" y="0"/>
                </a:moveTo>
                <a:lnTo>
                  <a:pt x="890334" y="0"/>
                </a:lnTo>
                <a:lnTo>
                  <a:pt x="890334" y="913178"/>
                </a:lnTo>
                <a:lnTo>
                  <a:pt x="0" y="91317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push dir="u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6599064"/>
            <a:ext cx="914847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spc="-167">
                <a:solidFill>
                  <a:srgbClr val="1D2024"/>
                </a:solidFill>
                <a:latin typeface="Arial Nova"/>
                <a:ea typeface="Arial Nova"/>
                <a:cs typeface="Arial Nova"/>
                <a:sym typeface="Arial Nova"/>
              </a:rPr>
              <a:t>Email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895475"/>
            <a:ext cx="9684799" cy="1269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99"/>
              </a:lnSpc>
            </a:pPr>
            <a:r>
              <a:rPr lang="en-US" sz="9999" spc="-799" b="true">
                <a:solidFill>
                  <a:srgbClr val="1D2024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About Me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7101735"/>
            <a:ext cx="3044363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 spc="-99">
                <a:solidFill>
                  <a:srgbClr val="1D2024"/>
                </a:solidFill>
                <a:latin typeface="Arial Nova"/>
                <a:ea typeface="Arial Nova"/>
                <a:cs typeface="Arial Nova"/>
                <a:sym typeface="Arial Nova"/>
              </a:rPr>
              <a:t>4rv10suhendar@gmail.com</a:t>
            </a:r>
          </a:p>
        </p:txBody>
      </p:sp>
      <p:sp>
        <p:nvSpPr>
          <p:cNvPr name="TextBox 5" id="5"/>
          <p:cNvSpPr txBox="true"/>
          <p:nvPr/>
        </p:nvSpPr>
        <p:spPr>
          <a:xfrm rot="5400000">
            <a:off x="13007474" y="4709762"/>
            <a:ext cx="5349966" cy="10974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297"/>
              </a:lnSpc>
            </a:pPr>
            <a:r>
              <a:rPr lang="en-US" sz="64498" i="true" spc="-3869">
                <a:solidFill>
                  <a:srgbClr val="1D2024"/>
                </a:solidFill>
                <a:latin typeface="Museo Moderno Italics"/>
                <a:ea typeface="Museo Moderno Italics"/>
                <a:cs typeface="Museo Moderno Italics"/>
                <a:sym typeface="Museo Moderno Italics"/>
              </a:rPr>
              <a:t>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7955067"/>
            <a:ext cx="5844078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spc="-167">
                <a:solidFill>
                  <a:srgbClr val="1D2024"/>
                </a:solidFill>
                <a:latin typeface="Arial Nova"/>
                <a:ea typeface="Arial Nova"/>
                <a:cs typeface="Arial Nova"/>
                <a:sym typeface="Arial Nova"/>
              </a:rPr>
              <a:t>Linkedin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8457738"/>
            <a:ext cx="2233030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 spc="-99" u="sng">
                <a:solidFill>
                  <a:srgbClr val="1D2024"/>
                </a:solidFill>
                <a:latin typeface="Arial Nova"/>
                <a:ea typeface="Arial Nova"/>
                <a:cs typeface="Arial Nova"/>
                <a:sym typeface="Arial Nova"/>
                <a:hlinkClick r:id="rId2" tooltip="https://www.linkedin.com/in/arvio-abe-suhendar/"/>
              </a:rPr>
              <a:t>Arvio Abe Suhendar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3564398"/>
            <a:ext cx="16513871" cy="2034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459"/>
              </a:lnSpc>
            </a:pPr>
            <a:r>
              <a:rPr lang="en-US" b="true" sz="3899" i="true" spc="-233">
                <a:solidFill>
                  <a:srgbClr val="1D2024"/>
                </a:solidFill>
                <a:latin typeface="Arial Nova Bold Italics"/>
                <a:ea typeface="Arial Nova Bold Italics"/>
                <a:cs typeface="Arial Nova Bold Italics"/>
                <a:sym typeface="Arial Nova Bold Italics"/>
              </a:rPr>
              <a:t>I am currently learning and building a career in AI/ML. This project is my practice to build a simple python application. I want to further develop my skills in this field through existing projects.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620469" y="6599064"/>
            <a:ext cx="1252308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spc="-167">
                <a:solidFill>
                  <a:srgbClr val="1D2024"/>
                </a:solidFill>
                <a:latin typeface="Arial Nova"/>
                <a:ea typeface="Arial Nova"/>
                <a:cs typeface="Arial Nova"/>
                <a:sym typeface="Arial Nova"/>
              </a:rPr>
              <a:t>Github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620469" y="7101735"/>
            <a:ext cx="1176766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 spc="-99" u="sng">
                <a:solidFill>
                  <a:srgbClr val="1D2024"/>
                </a:solidFill>
                <a:latin typeface="Arial Nova"/>
                <a:ea typeface="Arial Nova"/>
                <a:cs typeface="Arial Nova"/>
                <a:sym typeface="Arial Nova"/>
                <a:hlinkClick r:id="rId3" tooltip="https://github.com/arvio1378"/>
              </a:rPr>
              <a:t>arvio1378</a:t>
            </a:r>
          </a:p>
        </p:txBody>
      </p:sp>
    </p:spTree>
  </p:cSld>
  <p:clrMapOvr>
    <a:masterClrMapping/>
  </p:clrMapOvr>
  <p:transition spd="fast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DAGxqclMVy4</dc:identifier>
  <dcterms:modified xsi:type="dcterms:W3CDTF">2011-08-01T06:04:30Z</dcterms:modified>
  <cp:revision>1</cp:revision>
  <dc:title>Apple RAG</dc:title>
</cp:coreProperties>
</file>